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秒开场：AI 版本即使普通问答通过，也可能静默破坏条款、权限或安全护栏。EvalPilot 的交付物不是分数，而是可阻断发布的证据决策。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用三个已实现的失败类型说明问题。注意不要说传统工具完全做不到，而是说 EvalPilot 把版本因果比较、根因重放和发布阻断连成了端到端交付。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强调闭环和交付物。截图是实际产品控制台，不是概念图。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这是全篇最重要的一页。用左侧流程说明 Agent 确实参与控制流，用右侧两栏说明权威边界，避免评委认为大模型只是文案生成。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先讲 26 和 18，再讲 8 和区间。必须说明 8/26 是受控公开案例，不是所有版本都一定有 8 个回归。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先讲反事实恢复数字，再用 OOD 4/4 证明不是只对已知 fixture 硬编码。模型规划 8/8 与规则 8/8 并列，避免过度包装。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说明公开开源依赖、受控 candidate patch 和失败语义。再次强调受控 patch 不代表上游项目本身有缺陷。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市场页不说“市场巨大”或“客户很多”。只说公开付费品类、集成入口、实测成本和可证伪商业假设。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收束到一句主张：不是增加更多 AI 功能，而是把 AI 发布从主观判断变成可验证、可阻断的工程流程。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5DFF"/>
                </a:solidFill>
                <a:latin typeface="Microsoft YaHei"/>
              </a:rPr>
              <a:t>逆熵智评  ·  NEGENTROPY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557784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65DFF"/>
                </a:solidFill>
                <a:latin typeface="Microsoft YaHei"/>
              </a:rPr>
              <a:t>EvalPilot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58521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82230"/>
                </a:solidFill>
                <a:latin typeface="Microsoft YaHei"/>
              </a:rPr>
              <a:t>AI 应用回归评测
与自主发布质量官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63240"/>
            <a:ext cx="5394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75467"/>
                </a:solidFill>
                <a:latin typeface="Microsoft YaHei"/>
              </a:rPr>
              <a:t>用匹配评测、统计置信和反事实重放，把版本变化变成可验收的发布决策。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160520"/>
            <a:ext cx="5349240" cy="694944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4315968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65DFF"/>
                </a:solidFill>
                <a:latin typeface="Microsoft YaHei"/>
              </a:rPr>
              <a:t>8 / 26 回归 · 52 / 0 上游比较 · 4 / 4 OOD 根因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166360"/>
            <a:ext cx="5394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467"/>
                </a:solidFill>
                <a:latin typeface="Microsoft YaHei"/>
              </a:rPr>
              <a:t>公开产品站：zqian6263-design.github.io/EvalPilot
演示视频：bilibili.com/video/BV1mPYY6sE1k</a:t>
            </a:r>
          </a:p>
        </p:txBody>
      </p:sp>
      <p:pic>
        <p:nvPicPr>
          <p:cNvPr id="10" name="Picture 9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853088"/>
            <a:ext cx="5440680" cy="30603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5DFF"/>
                </a:solidFill>
                <a:latin typeface="Microsoft YaHei"/>
              </a:rPr>
              <a:t>EVALPILOT  ·  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82230"/>
                </a:solidFill>
                <a:latin typeface="Microsoft YaHei"/>
              </a:rPr>
              <a:t>普通问答通过，不等于关键能力没有退化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83112" cy="22860"/>
          </a:xfrm>
          <a:prstGeom prst="rect">
            <a:avLst/>
          </a:prstGeom>
          <a:solidFill>
            <a:srgbClr val="165DFF"/>
          </a:solidFill>
          <a:ln>
            <a:solidFill>
              <a:srgbClr val="16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475467"/>
                </a:solidFill>
                <a:latin typeface="Microsoft YaHei"/>
              </a:rPr>
              <a:t>逆熵智评 · NEGENTROPY LABS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475467"/>
                </a:solidFill>
                <a:latin typeface="Microsoft Ya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475467"/>
                </a:solidFill>
                <a:latin typeface="Microsoft YaHei"/>
              </a:rPr>
              <a:t>版本更新可能更快、总分更高，却同时破坏产品必须长期守住的能力。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31720"/>
            <a:ext cx="349300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31720"/>
            <a:ext cx="73152" cy="2148840"/>
          </a:xfrm>
          <a:prstGeom prst="rect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24328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82230"/>
                </a:solidFill>
                <a:latin typeface="Microsoft YaHei"/>
              </a:rPr>
              <a:t>条款与流程丢失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27248"/>
            <a:ext cx="28803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75467"/>
                </a:solidFill>
                <a:latin typeface="Microsoft YaHei"/>
              </a:rPr>
              <a:t>退款、升级、电池处置等强制条款被摘要压缩掉。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6824" y="2331720"/>
            <a:ext cx="349300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06824" y="2331720"/>
            <a:ext cx="73152" cy="2148840"/>
          </a:xfrm>
          <a:prstGeom prst="rect">
            <a:avLst/>
          </a:prstGeom>
          <a:solidFill>
            <a:srgbClr val="B54708"/>
          </a:solidFill>
          <a:ln>
            <a:solidFill>
              <a:srgbClr val="B54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624328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82230"/>
                </a:solidFill>
                <a:latin typeface="Microsoft YaHei"/>
              </a:rPr>
              <a:t>权限与隔离失效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3127248"/>
            <a:ext cx="28803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75467"/>
                </a:solidFill>
                <a:latin typeface="Microsoft YaHei"/>
              </a:rPr>
              <a:t>租户记忆串扰、缓存返回旧错误，业务边界被绕过。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0728" y="2331720"/>
            <a:ext cx="349300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0728" y="2331720"/>
            <a:ext cx="73152" cy="2148840"/>
          </a:xfrm>
          <a:prstGeom prst="rect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8" y="2624328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82230"/>
                </a:solidFill>
                <a:latin typeface="Microsoft YaHei"/>
              </a:rPr>
              <a:t>安全护栏失效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3127248"/>
            <a:ext cx="28803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75467"/>
                </a:solidFill>
                <a:latin typeface="Microsoft YaHei"/>
              </a:rPr>
              <a:t>凭证注入从拒绝泄露变成直接输出敏感信息。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892040"/>
            <a:ext cx="11183112" cy="841248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065776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82230"/>
                </a:solidFill>
                <a:latin typeface="Microsoft YaHei"/>
              </a:rPr>
              <a:t>团队需要的不是“再一个分数”，而是：是否真实回归、由哪个变更造成、是否应立即阻断发布。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5DFF"/>
                </a:solidFill>
                <a:latin typeface="Microsoft YaHei"/>
              </a:rPr>
              <a:t>EVALPILOT  ·  产品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82230"/>
                </a:solidFill>
                <a:latin typeface="Microsoft YaHei"/>
              </a:rPr>
              <a:t>一个能接管发布质量闭环的数字员工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83112" cy="22860"/>
          </a:xfrm>
          <a:prstGeom prst="rect">
            <a:avLst/>
          </a:prstGeom>
          <a:solidFill>
            <a:srgbClr val="165DFF"/>
          </a:solidFill>
          <a:ln>
            <a:solidFill>
              <a:srgbClr val="16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475467"/>
                </a:solidFill>
                <a:latin typeface="Microsoft YaHei"/>
              </a:rPr>
              <a:t>逆熵智评 · NEGENTROPY LABS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475467"/>
                </a:solidFill>
                <a:latin typeface="Microsoft YaHe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72768"/>
            <a:ext cx="199339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55648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5DFF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39696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82230"/>
                </a:solidFill>
                <a:latin typeface="Microsoft YaHei"/>
              </a:rPr>
              <a:t>理解与规划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70048"/>
            <a:ext cx="16276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467"/>
                </a:solidFill>
                <a:latin typeface="Microsoft YaHei"/>
              </a:rPr>
              <a:t>读取需求与版本变更
生成风险地图和测试任务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25146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65DFF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52344" y="1572768"/>
            <a:ext cx="199339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35224" y="1755648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5DFF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5224" y="2139696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82230"/>
                </a:solidFill>
                <a:latin typeface="Microsoft YaHei"/>
              </a:rPr>
              <a:t>执行与取证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35224" y="2670048"/>
            <a:ext cx="16276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467"/>
                </a:solidFill>
                <a:latin typeface="Microsoft YaHei"/>
              </a:rPr>
              <a:t>调用 HTTP / 文件 / KB 工具
保存结果、引用和轨迹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25146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65DFF"/>
                </a:solidFill>
                <a:latin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01768" y="1572768"/>
            <a:ext cx="199339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84648" y="1755648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5DFF"/>
                </a:solidFill>
                <a:latin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4648" y="2139696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82230"/>
                </a:solidFill>
                <a:latin typeface="Microsoft YaHei"/>
              </a:rPr>
              <a:t>统计判定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4648" y="2670048"/>
            <a:ext cx="16276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467"/>
                </a:solidFill>
                <a:latin typeface="Microsoft YaHei"/>
              </a:rPr>
              <a:t>26 个匹配场景 + 18 个控制组
报告效应量与配对区间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25146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65DFF"/>
                </a:solidFill>
                <a:latin typeface="Microsoft YaHe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51192" y="1572768"/>
            <a:ext cx="199339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34071" y="1755648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5DFF"/>
                </a:solidFill>
                <a:latin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4071" y="2139696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82230"/>
                </a:solidFill>
                <a:latin typeface="Microsoft YaHei"/>
              </a:rPr>
              <a:t>根因重放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1" y="2670048"/>
            <a:ext cx="16276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467"/>
                </a:solidFill>
                <a:latin typeface="Microsoft YaHei"/>
              </a:rPr>
              <a:t>受约束模型提出实验
引擎执行白名单干预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5146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65DFF"/>
                </a:solidFill>
                <a:latin typeface="Microsoft YaHe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0616" y="1572768"/>
            <a:ext cx="199339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83496" y="1755648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5DFF"/>
                </a:solidFill>
                <a:latin typeface="Microsoft Ya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83496" y="2139696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82230"/>
                </a:solidFill>
                <a:latin typeface="Microsoft YaHei"/>
              </a:rPr>
              <a:t>发布门禁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83496" y="2670048"/>
            <a:ext cx="16276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467"/>
                </a:solidFill>
                <a:latin typeface="Microsoft YaHei"/>
              </a:rPr>
              <a:t>BLOCK / REVIEW / ALLOW
报告、JUnit、SARIF、PR 回写</a:t>
            </a:r>
          </a:p>
        </p:txBody>
      </p:sp>
      <p:pic>
        <p:nvPicPr>
          <p:cNvPr id="32" name="Picture 31" descr="con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080" y="4206240"/>
            <a:ext cx="3332479" cy="1874519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7150608" y="4206240"/>
            <a:ext cx="4535424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24927" y="4434840"/>
            <a:ext cx="39776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82230"/>
                </a:solidFill>
                <a:latin typeface="Microsoft YaHei"/>
              </a:rPr>
              <a:t>交付物不是建议，而是可验收结果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24927" y="4919472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165DFF"/>
                </a:solidFill>
                <a:latin typeface="Microsoft YaHei"/>
              </a:rPr>
              <a:t>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53527" y="4905756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82230"/>
                </a:solidFill>
                <a:latin typeface="Microsoft YaHei"/>
              </a:rPr>
              <a:t>可下载 Markdown 证据报告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4927" y="5266944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165DFF"/>
                </a:solidFill>
                <a:latin typeface="Microsoft YaHei"/>
              </a:rPr>
              <a:t>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53527" y="525322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82230"/>
                </a:solidFill>
                <a:latin typeface="Microsoft YaHei"/>
              </a:rPr>
              <a:t>CI 退出码 0 / 1 /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4927" y="5614416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165DFF"/>
                </a:solidFill>
                <a:latin typeface="Microsoft YaHei"/>
              </a:rPr>
              <a:t>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53527" y="560070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82230"/>
                </a:solidFill>
                <a:latin typeface="Microsoft YaHei"/>
              </a:rPr>
              <a:t>可复现 run id 与 evidence 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5DFF"/>
                </a:solidFill>
                <a:latin typeface="Microsoft YaHei"/>
              </a:rPr>
              <a:t>EVALPILOT  ·  智能体边界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82230"/>
                </a:solidFill>
                <a:latin typeface="Microsoft YaHei"/>
              </a:rPr>
              <a:t>模型可以规划，但不能覆盖实测结论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83112" cy="22860"/>
          </a:xfrm>
          <a:prstGeom prst="rect">
            <a:avLst/>
          </a:prstGeom>
          <a:solidFill>
            <a:srgbClr val="165DFF"/>
          </a:solidFill>
          <a:ln>
            <a:solidFill>
              <a:srgbClr val="16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475467"/>
                </a:solidFill>
                <a:latin typeface="Microsoft YaHei"/>
              </a:rPr>
              <a:t>逆熵智评 · NEGENTROPY LABS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475467"/>
                </a:solidFill>
                <a:latin typeface="Microsoft YaHe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72768"/>
            <a:ext cx="3886200" cy="50292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5DFF"/>
                </a:solidFill>
                <a:latin typeface="Microsoft YaHei"/>
              </a:rPr>
              <a:t>自然语言目标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07568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467"/>
                </a:solidFill>
                <a:latin typeface="Microsoft YaHei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86000"/>
            <a:ext cx="3886200" cy="50292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04872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5DFF"/>
                </a:solidFill>
                <a:latin typeface="Microsoft YaHei"/>
              </a:rPr>
              <a:t>风险假设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7889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467"/>
                </a:solidFill>
                <a:latin typeface="Microsoft YaHei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99232"/>
            <a:ext cx="3886200" cy="50292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18104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5DFF"/>
                </a:solidFill>
                <a:latin typeface="Microsoft YaHei"/>
              </a:rPr>
              <a:t>受约束计划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3502152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467"/>
                </a:solidFill>
                <a:latin typeface="Microsoft YaHei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2463"/>
            <a:ext cx="3886200" cy="50292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31335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5DFF"/>
                </a:solidFill>
                <a:latin typeface="Microsoft YaHei"/>
              </a:rPr>
              <a:t>白名单干预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4215383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467"/>
                </a:solidFill>
                <a:latin typeface="Microsoft YaHei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425696"/>
            <a:ext cx="3886200" cy="50292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544568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5DFF"/>
                </a:solidFill>
                <a:latin typeface="Microsoft YaHei"/>
              </a:rPr>
              <a:t>实测恢复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4928616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467"/>
                </a:solidFill>
                <a:latin typeface="Microsoft YaHei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138928"/>
            <a:ext cx="3886200" cy="502920"/>
          </a:xfrm>
          <a:prstGeom prst="roundRect">
            <a:avLst/>
          </a:prstGeom>
          <a:solidFill>
            <a:srgbClr val="ECFDF3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257800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67647"/>
                </a:solidFill>
                <a:latin typeface="Microsoft YaHei"/>
              </a:rPr>
              <a:t>发布决策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74920" y="1572768"/>
            <a:ext cx="29718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9240" y="18288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5DFF"/>
                </a:solidFill>
                <a:latin typeface="Microsoft YaHei"/>
              </a:rPr>
              <a:t>LLM 权限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2395728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65DFF"/>
                </a:solidFill>
                <a:latin typeface="Microsoft YaHei"/>
              </a:rP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2382012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230"/>
                </a:solidFill>
                <a:latin typeface="Microsoft YaHei"/>
              </a:rPr>
              <a:t>提出风险假设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2980944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65DFF"/>
                </a:solidFill>
                <a:latin typeface="Microsoft YaHei"/>
              </a:rPr>
              <a:t>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2967228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230"/>
                </a:solidFill>
                <a:latin typeface="Microsoft YaHei"/>
              </a:rPr>
              <a:t>选择可执行实验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3566160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65DFF"/>
                </a:solidFill>
                <a:latin typeface="Microsoft YaHei"/>
              </a:rPr>
              <a:t>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3552444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230"/>
                </a:solidFill>
                <a:latin typeface="Microsoft YaHei"/>
              </a:rPr>
              <a:t>解释证据和修复建议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4151376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65DFF"/>
                </a:solidFill>
                <a:latin typeface="Microsoft YaHei"/>
              </a:rPr>
              <a:t>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413766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230"/>
                </a:solidFill>
                <a:latin typeface="Microsoft YaHei"/>
              </a:rPr>
              <a:t>生成报告叙述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5320" y="1572768"/>
            <a:ext cx="3410712" cy="4069080"/>
          </a:xfrm>
          <a:prstGeom prst="roundRect">
            <a:avLst/>
          </a:prstGeom>
          <a:solidFill>
            <a:srgbClr val="FEF3F2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9640" y="1828800"/>
            <a:ext cx="2862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B42318"/>
                </a:solidFill>
                <a:latin typeface="Microsoft YaHei"/>
              </a:rPr>
              <a:t>确定性引擎权威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2395728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65DFF"/>
                </a:solidFill>
                <a:latin typeface="Microsoft YaHei"/>
              </a:rPr>
              <a:t>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2382012"/>
            <a:ext cx="26334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230"/>
                </a:solidFill>
                <a:latin typeface="Microsoft YaHei"/>
              </a:rPr>
              <a:t>写入分数与证据 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2980944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65DFF"/>
                </a:solidFill>
                <a:latin typeface="Microsoft YaHei"/>
              </a:rPr>
              <a:t>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2967228"/>
            <a:ext cx="26334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230"/>
                </a:solidFill>
                <a:latin typeface="Microsoft YaHei"/>
              </a:rPr>
              <a:t>执行并测量反事实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3566160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65DFF"/>
                </a:solidFill>
                <a:latin typeface="Microsoft YaHei"/>
              </a:rPr>
              <a:t>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0" y="3552444"/>
            <a:ext cx="26334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230"/>
                </a:solidFill>
                <a:latin typeface="Microsoft YaHei"/>
              </a:rPr>
              <a:t>决定根因与风险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4151376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65DFF"/>
                </a:solidFill>
                <a:latin typeface="Microsoft YaHei"/>
              </a:rPr>
              <a:t>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4137660"/>
            <a:ext cx="26334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230"/>
                </a:solidFill>
                <a:latin typeface="Microsoft YaHei"/>
              </a:rPr>
              <a:t>生成 BLOCK / REVIEW / ALLOW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49240" y="4617720"/>
            <a:ext cx="60533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75467"/>
                </a:solidFill>
                <a:latin typeface="Microsoft YaHei"/>
              </a:rPr>
              <a:t>DeepSeek V4 Pro 规划 8/8；确定性规则同样 8/8。模型可改变下一步实验，但不能改变答案。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5DFF"/>
                </a:solidFill>
                <a:latin typeface="Microsoft YaHei"/>
              </a:rPr>
              <a:t>EVALPILOT  ·  实测证据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82230"/>
                </a:solidFill>
                <a:latin typeface="Microsoft YaHei"/>
              </a:rPr>
              <a:t>真实回归已经被确认、测量和阻断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83112" cy="22860"/>
          </a:xfrm>
          <a:prstGeom prst="rect">
            <a:avLst/>
          </a:prstGeom>
          <a:solidFill>
            <a:srgbClr val="165DFF"/>
          </a:solidFill>
          <a:ln>
            <a:solidFill>
              <a:srgbClr val="16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475467"/>
                </a:solidFill>
                <a:latin typeface="Microsoft YaHei"/>
              </a:rPr>
              <a:t>逆熵智评 · NEGENTROPY LABS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475467"/>
                </a:solidFill>
                <a:latin typeface="Microsoft YaHe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26060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636776"/>
            <a:ext cx="22768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75467"/>
                </a:solidFill>
                <a:latin typeface="Microsoft YaHei"/>
              </a:rPr>
              <a:t>匹配场景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856231"/>
            <a:ext cx="227685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5DFF"/>
                </a:solidFill>
                <a:latin typeface="Microsoft YaHei"/>
              </a:rPr>
              <a:t>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276856"/>
            <a:ext cx="2276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75467"/>
                </a:solidFill>
                <a:latin typeface="Microsoft YaHei"/>
              </a:rPr>
              <a:t>baseline / candidate 同题运行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73552" y="1508760"/>
            <a:ext cx="26060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636776"/>
            <a:ext cx="22768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75467"/>
                </a:solidFill>
                <a:latin typeface="Microsoft YaHei"/>
              </a:rPr>
              <a:t>控制组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1856231"/>
            <a:ext cx="227685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5DFF"/>
                </a:solidFill>
                <a:latin typeface="Microsoft YaHei"/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8144" y="2276856"/>
            <a:ext cx="2276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75467"/>
                </a:solidFill>
                <a:latin typeface="Microsoft YaHei"/>
              </a:rPr>
              <a:t>同版本对照完全一致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44184" y="1508760"/>
            <a:ext cx="2606040" cy="1143000"/>
          </a:xfrm>
          <a:prstGeom prst="roundRect">
            <a:avLst/>
          </a:prstGeom>
          <a:solidFill>
            <a:srgbClr val="FEF3F2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08776" y="1636776"/>
            <a:ext cx="22768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75467"/>
                </a:solidFill>
                <a:latin typeface="Microsoft YaHei"/>
              </a:rPr>
              <a:t>阻断回归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1856231"/>
            <a:ext cx="227685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B42318"/>
                </a:solidFill>
                <a:latin typeface="Microsoft YaHei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2276856"/>
            <a:ext cx="2276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75467"/>
                </a:solidFill>
                <a:latin typeface="Microsoft YaHei"/>
              </a:rPr>
              <a:t>7 条款 + 1 凭证泄露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14816" y="1508760"/>
            <a:ext cx="2871216" cy="1143000"/>
          </a:xfrm>
          <a:prstGeom prst="roundRect">
            <a:avLst/>
          </a:prstGeom>
          <a:solidFill>
            <a:srgbClr val="FEF3F2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79408" y="1636776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75467"/>
                </a:solidFill>
                <a:latin typeface="Microsoft YaHei"/>
              </a:rPr>
              <a:t>发布结论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8" y="1856231"/>
            <a:ext cx="254203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B42318"/>
                </a:solidFill>
                <a:latin typeface="Microsoft YaHei"/>
              </a:rPr>
              <a:t>BLOCK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2276856"/>
            <a:ext cx="2542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75467"/>
                </a:solidFill>
                <a:latin typeface="Microsoft YaHei"/>
              </a:rPr>
              <a:t>风险级别 CRITICAL</a:t>
            </a:r>
          </a:p>
        </p:txBody>
      </p:sp>
      <p:pic>
        <p:nvPicPr>
          <p:cNvPr id="24" name="Picture 23" descr="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740" y="2944368"/>
            <a:ext cx="5120640" cy="288036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7543800" y="2944368"/>
            <a:ext cx="4142232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8120" y="3200400"/>
            <a:ext cx="3611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82230"/>
                </a:solidFill>
                <a:latin typeface="Microsoft YaHei"/>
              </a:rPr>
              <a:t>配对结果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3602736"/>
            <a:ext cx="3566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B42318"/>
                </a:solidFill>
                <a:latin typeface="Microsoft YaHei"/>
              </a:rPr>
              <a:t>mean delta  -0.173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41148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82230"/>
                </a:solidFill>
                <a:latin typeface="Microsoft YaHei"/>
              </a:rPr>
              <a:t>95% CI  [-0.288, -0.077]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4572000"/>
            <a:ext cx="3566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467"/>
                </a:solidFill>
                <a:latin typeface="Microsoft YaHei"/>
              </a:rPr>
              <a:t>Live Run：52 Judge calls
78,695 tokens · 峰值成本 $0.264697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535838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B54708"/>
                </a:solidFill>
                <a:latin typeface="Microsoft YaHei"/>
              </a:rPr>
              <a:t>成本下界，不是通用报价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5DFF"/>
                </a:solidFill>
                <a:latin typeface="Microsoft YaHei"/>
              </a:rPr>
              <a:t>EVALPILOT  ·  根因重放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82230"/>
                </a:solidFill>
                <a:latin typeface="Microsoft YaHei"/>
              </a:rPr>
              <a:t>不是猜测原因，而是禁用变更后重新测量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83112" cy="22860"/>
          </a:xfrm>
          <a:prstGeom prst="rect">
            <a:avLst/>
          </a:prstGeom>
          <a:solidFill>
            <a:srgbClr val="165DFF"/>
          </a:solidFill>
          <a:ln>
            <a:solidFill>
              <a:srgbClr val="16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475467"/>
                </a:solidFill>
                <a:latin typeface="Microsoft YaHei"/>
              </a:rPr>
              <a:t>逆熵智评 · NEGENTROPY LABS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475467"/>
                </a:solidFill>
                <a:latin typeface="Microsoft YaHe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27048"/>
            <a:ext cx="2971800" cy="1234440"/>
          </a:xfrm>
          <a:prstGeom prst="roundRect">
            <a:avLst/>
          </a:prstGeom>
          <a:solidFill>
            <a:srgbClr val="FEF3F2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19072"/>
            <a:ext cx="594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B42318"/>
                </a:solidFill>
                <a:latin typeface="Microsoft YaHe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80136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82230"/>
                </a:solidFill>
                <a:latin typeface="Microsoft YaHei"/>
              </a:rPr>
              <a:t>失败场景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258568"/>
            <a:ext cx="24871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467"/>
                </a:solidFill>
                <a:latin typeface="Microsoft YaHei"/>
              </a:rPr>
              <a:t>通过 HTTP 边界逐项重放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93852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65DFF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1527048"/>
            <a:ext cx="37033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8" y="171907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65DFF"/>
                </a:solidFill>
                <a:latin typeface="Microsoft YaHei"/>
              </a:rPr>
              <a:t>关闭压缩层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2121408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82230"/>
                </a:solidFill>
                <a:latin typeface="Microsoft YaHei"/>
              </a:rPr>
              <a:t>7 个条款 / 流程失败恢复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8" y="1527048"/>
            <a:ext cx="3712463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0456" y="171907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B42318"/>
                </a:solidFill>
                <a:latin typeface="Microsoft YaHei"/>
              </a:rPr>
              <a:t>恢复安全护栏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456" y="2121408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82230"/>
                </a:solidFill>
                <a:latin typeface="Microsoft YaHei"/>
              </a:rPr>
              <a:t>1 个凭证泄露恢复拒绝</a:t>
            </a:r>
          </a:p>
        </p:txBody>
      </p:sp>
      <p:pic>
        <p:nvPicPr>
          <p:cNvPr id="19" name="Picture 18" descr="model-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460" y="2971800"/>
            <a:ext cx="5120640" cy="288036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7635240" y="2971800"/>
            <a:ext cx="4050791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3218688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82230"/>
                </a:solidFill>
                <a:latin typeface="Microsoft YaHei"/>
              </a:rPr>
              <a:t>可执行根因证据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3657600"/>
            <a:ext cx="1664208" cy="1115568"/>
          </a:xfrm>
          <a:prstGeom prst="roundRect">
            <a:avLst/>
          </a:prstGeom>
          <a:solidFill>
            <a:srgbClr val="ECFDF3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74152" y="3785615"/>
            <a:ext cx="13350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75467"/>
                </a:solidFill>
                <a:latin typeface="Microsoft YaHei"/>
              </a:rPr>
              <a:t>OOD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74152" y="4005072"/>
            <a:ext cx="13350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67647"/>
                </a:solidFill>
                <a:latin typeface="Microsoft YaHei"/>
              </a:rPr>
              <a:t>4 /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4152" y="4425696"/>
            <a:ext cx="13350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75467"/>
                </a:solidFill>
                <a:latin typeface="Microsoft YaHei"/>
              </a:rPr>
              <a:t>HTTP 实测恢复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10928" y="3657600"/>
            <a:ext cx="1700784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19" y="3785615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75467"/>
                </a:solidFill>
                <a:latin typeface="Microsoft YaHei"/>
              </a:rPr>
              <a:t>模型规划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19" y="4005072"/>
            <a:ext cx="13716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5DFF"/>
                </a:solidFill>
                <a:latin typeface="Microsoft YaHei"/>
              </a:rPr>
              <a:t>8 /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19" y="4425696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75467"/>
                </a:solidFill>
                <a:latin typeface="Microsoft YaHei"/>
              </a:rPr>
              <a:t>需白名单校验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5010912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467"/>
                </a:solidFill>
                <a:latin typeface="Microsoft YaHei"/>
              </a:rPr>
              <a:t>确定性规则同样 8/8；模型能力是扩展路径，不是不可替代的黑箱。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5DFF"/>
                </a:solidFill>
                <a:latin typeface="Microsoft YaHei"/>
              </a:rPr>
              <a:t>EVALPILOT  ·  开源适配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82230"/>
                </a:solidFill>
                <a:latin typeface="Microsoft YaHei"/>
              </a:rPr>
              <a:t>对真实公开栈工作，也对故障明确失败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83112" cy="22860"/>
          </a:xfrm>
          <a:prstGeom prst="rect">
            <a:avLst/>
          </a:prstGeom>
          <a:solidFill>
            <a:srgbClr val="165DFF"/>
          </a:solidFill>
          <a:ln>
            <a:solidFill>
              <a:srgbClr val="16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475467"/>
                </a:solidFill>
                <a:latin typeface="Microsoft YaHei"/>
              </a:rPr>
              <a:t>逆熵智评 · NEGENTROPY LABS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475467"/>
                </a:solidFill>
                <a:latin typeface="Microsoft YaHei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5669280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10512"/>
            <a:ext cx="51206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82230"/>
                </a:solidFill>
                <a:latin typeface="Microsoft YaHei"/>
              </a:rPr>
              <a:t>公开 Haystack HTTP SUT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5074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5DFF"/>
                </a:solidFill>
                <a:latin typeface="Microsoft YaHei"/>
              </a:rPr>
              <a:t>DocumentSplitter → BM25 Retriever → DocumentJoiner
→ GroundedReranker → grounded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467"/>
                </a:solidFill>
                <a:latin typeface="Microsoft YaHei"/>
              </a:rPr>
              <a:t>Apache-2.0 · haystack-ai 3.1.1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554480"/>
            <a:ext cx="2423160" cy="1417320"/>
          </a:xfrm>
          <a:prstGeom prst="roundRect">
            <a:avLst/>
          </a:prstGeom>
          <a:solidFill>
            <a:srgbClr val="ECFDF3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1682495"/>
            <a:ext cx="2093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75467"/>
                </a:solidFill>
                <a:latin typeface="Microsoft YaHei"/>
              </a:rPr>
              <a:t>上游比较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1901952"/>
            <a:ext cx="209397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67647"/>
                </a:solidFill>
                <a:latin typeface="Microsoft YaHei"/>
              </a:rPr>
              <a:t>52 /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322576"/>
            <a:ext cx="2093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75467"/>
                </a:solidFill>
                <a:latin typeface="Microsoft YaHei"/>
              </a:rPr>
              <a:t>3.0.0 vs 3.1.1 语义差异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554480"/>
            <a:ext cx="2587752" cy="1417320"/>
          </a:xfrm>
          <a:prstGeom prst="roundRect">
            <a:avLst/>
          </a:prstGeom>
          <a:solidFill>
            <a:srgbClr val="FEF3F2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2872" y="1682495"/>
            <a:ext cx="2258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75467"/>
                </a:solidFill>
                <a:latin typeface="Microsoft YaHei"/>
              </a:rPr>
              <a:t>候选回归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1901952"/>
            <a:ext cx="225856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B42318"/>
                </a:solidFill>
                <a:latin typeface="Microsoft YaHei"/>
              </a:rPr>
              <a:t>8 / 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322576"/>
            <a:ext cx="2258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75467"/>
                </a:solidFill>
                <a:latin typeface="Microsoft YaHei"/>
              </a:rPr>
              <a:t>mean delta -0.173</a:t>
            </a:r>
          </a:p>
        </p:txBody>
      </p:sp>
      <p:pic>
        <p:nvPicPr>
          <p:cNvPr id="20" name="Picture 19" descr="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659" y="3886200"/>
            <a:ext cx="3495039" cy="196596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7223760" y="3886200"/>
            <a:ext cx="446227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4160520"/>
            <a:ext cx="3886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82230"/>
                </a:solidFill>
                <a:latin typeface="Microsoft YaHei"/>
              </a:rPr>
              <a:t>证据不是“能跑一次”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4626864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165DFF"/>
                </a:solidFill>
                <a:latin typeface="Microsoft YaHei"/>
              </a:rP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4613148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82230"/>
                </a:solidFill>
                <a:latin typeface="Microsoft YaHei"/>
              </a:rPr>
              <a:t>同版本控制 0 回归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5020055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165DFF"/>
                </a:solidFill>
                <a:latin typeface="Microsoft YaHei"/>
              </a:rPr>
              <a:t>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500634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82230"/>
                </a:solidFill>
                <a:latin typeface="Microsoft YaHei"/>
              </a:rPr>
              <a:t>离线缓存精确复现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5413248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165DFF"/>
                </a:solidFill>
                <a:latin typeface="Microsoft YaHei"/>
              </a:rP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99532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82230"/>
                </a:solidFill>
                <a:latin typeface="Microsoft YaHei"/>
              </a:rPr>
              <a:t>SUT 故障明确失败，不回退 mock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5DFF"/>
                </a:solidFill>
                <a:latin typeface="Microsoft YaHei"/>
              </a:rPr>
              <a:t>EVALPILOT  ·  市场与交付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82230"/>
                </a:solidFill>
                <a:latin typeface="Microsoft YaHei"/>
              </a:rPr>
              <a:t>不与监控平台竞争，只守发布前最后一道门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83112" cy="22860"/>
          </a:xfrm>
          <a:prstGeom prst="rect">
            <a:avLst/>
          </a:prstGeom>
          <a:solidFill>
            <a:srgbClr val="165DFF"/>
          </a:solidFill>
          <a:ln>
            <a:solidFill>
              <a:srgbClr val="16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475467"/>
                </a:solidFill>
                <a:latin typeface="Microsoft YaHei"/>
              </a:rPr>
              <a:t>逆熵智评 · NEGENTROPY LABS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475467"/>
                </a:solidFill>
                <a:latin typeface="Microsoft YaHe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36192"/>
            <a:ext cx="37033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10512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82230"/>
                </a:solidFill>
                <a:latin typeface="Microsoft YaHei"/>
              </a:rPr>
              <a:t>市场切口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5DFF"/>
                </a:solidFill>
                <a:latin typeface="Microsoft YaHei"/>
              </a:rPr>
              <a:t>Given baseline + candidate，输出可阻断发布的证据决策。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65DFF"/>
                </a:solidFill>
                <a:latin typeface="Microsoft YaHei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40964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230"/>
                </a:solidFill>
                <a:latin typeface="Microsoft YaHei"/>
              </a:rPr>
              <a:t>公开付费品类已存在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21608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65DFF"/>
                </a:solidFill>
                <a:latin typeface="Microsoft YaHei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707892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230"/>
                </a:solidFill>
                <a:latin typeface="Microsoft YaHei"/>
              </a:rPr>
              <a:t>兼容现有 observability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88536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65DFF"/>
                </a:solidFill>
                <a:latin typeface="Microsoft YaHei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7482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230"/>
                </a:solidFill>
                <a:latin typeface="Microsoft YaHei"/>
              </a:rPr>
              <a:t>CI 是明确采购入口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074920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467"/>
                </a:solidFill>
                <a:latin typeface="Microsoft YaHei"/>
              </a:rPr>
              <a:t>证明预算品类与集成路径，不声称已有付费转化。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536192"/>
            <a:ext cx="34290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1810512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82230"/>
                </a:solidFill>
                <a:latin typeface="Microsoft YaHei"/>
              </a:rPr>
              <a:t>成本与交付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331720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5DFF"/>
                </a:solidFill>
                <a:latin typeface="Microsoft YaHei"/>
              </a:rPr>
              <a:t>$0.264697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834640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467"/>
                </a:solidFill>
                <a:latin typeface="Microsoft YaHei"/>
              </a:rPr>
              <a:t>一次完整 Live Run 峰值下界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3383280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165DFF"/>
                </a:solidFill>
                <a:latin typeface="Microsoft YaHei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369564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82230"/>
                </a:solidFill>
                <a:latin typeface="Microsoft YaHei"/>
              </a:rPr>
              <a:t>BLOCK / REVIEW / ALLOW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86200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165DFF"/>
                </a:solidFill>
                <a:latin typeface="Microsoft YaHei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872484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82230"/>
                </a:solidFill>
                <a:latin typeface="Microsoft YaHei"/>
              </a:rPr>
              <a:t>Markdown / JUnit / SARIF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4389120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165DFF"/>
                </a:solidFill>
                <a:latin typeface="Microsoft YaHei"/>
              </a:rPr>
              <a:t>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375404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82230"/>
                </a:solidFill>
                <a:latin typeface="Microsoft YaHei"/>
              </a:rPr>
              <a:t>退出码 0 / 1 /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4892040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165DFF"/>
                </a:solidFill>
                <a:latin typeface="Microsoft YaHei"/>
              </a:rPr>
              <a:t>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4878324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82230"/>
                </a:solidFill>
                <a:latin typeface="Microsoft YaHei"/>
              </a:rPr>
              <a:t>GitHub PR 回写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74152" y="1536192"/>
            <a:ext cx="36118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2" y="181051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82230"/>
                </a:solidFill>
                <a:latin typeface="Microsoft YaHei"/>
              </a:rPr>
              <a:t>商业策略（假设）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2" y="2423160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65DFF"/>
                </a:solidFill>
                <a:latin typeface="Microsoft YaHei"/>
              </a:rPr>
              <a:t>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77072" y="2409444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230"/>
                </a:solidFill>
                <a:latin typeface="Microsoft YaHei"/>
              </a:rPr>
              <a:t>Release audit
固定范围审计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2" y="3291839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65DFF"/>
                </a:solidFill>
                <a:latin typeface="Microsoft YaHei"/>
              </a:rPr>
              <a:t>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77072" y="3278123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230"/>
                </a:solidFill>
                <a:latin typeface="Microsoft YaHei"/>
              </a:rPr>
              <a:t>Team subscription
持续回归门禁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2" y="4160520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65DFF"/>
                </a:solidFill>
                <a:latin typeface="Microsoft YaHei"/>
              </a:rPr>
              <a:t>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77072" y="4146804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230"/>
                </a:solidFill>
                <a:latin typeface="Microsoft YaHei"/>
              </a:rPr>
              <a:t>Enterprise self-host
私有化与合规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48472" y="5138928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54708"/>
                </a:solidFill>
                <a:latin typeface="Microsoft YaHei"/>
              </a:rPr>
              <a:t>价格锚点来自公开竞品，不冒充已验证收入。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5DFF"/>
                </a:solidFill>
                <a:latin typeface="Microsoft YaHei"/>
              </a:rPr>
              <a:t>EVALPILOT  ·  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82230"/>
                </a:solidFill>
                <a:latin typeface="Microsoft YaHei"/>
              </a:rPr>
              <a:t>先守住发布决策，再扩大公开证据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83112" cy="22860"/>
          </a:xfrm>
          <a:prstGeom prst="rect">
            <a:avLst/>
          </a:prstGeom>
          <a:solidFill>
            <a:srgbClr val="165DFF"/>
          </a:solidFill>
          <a:ln>
            <a:solidFill>
              <a:srgbClr val="16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475467"/>
                </a:solidFill>
                <a:latin typeface="Microsoft YaHei"/>
              </a:rPr>
              <a:t>逆熵智评 · NEGENTROPY LABS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475467"/>
                </a:solidFill>
                <a:latin typeface="Microsoft YaHe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72768"/>
            <a:ext cx="3429000" cy="3611880"/>
          </a:xfrm>
          <a:prstGeom prst="roundRect">
            <a:avLst/>
          </a:prstGeom>
          <a:solidFill>
            <a:srgbClr val="ECFDF3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47088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67647"/>
                </a:solidFill>
                <a:latin typeface="Microsoft YaHei"/>
              </a:rPr>
              <a:t>现在：已验证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50592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65DFF"/>
                </a:solidFill>
                <a:latin typeface="Microsoft YaHei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36876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230"/>
                </a:solidFill>
                <a:latin typeface="Microsoft YaHei"/>
              </a:rPr>
              <a:t>公开产品站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72384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65DFF"/>
                </a:solidFill>
                <a:latin typeface="Microsoft YaHei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058668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230"/>
                </a:solidFill>
                <a:latin typeface="Microsoft YaHei"/>
              </a:rPr>
              <a:t>真实 HTTP SUT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94176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65DFF"/>
                </a:solidFill>
                <a:latin typeface="Microsoft YaHei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68046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230"/>
                </a:solidFill>
                <a:latin typeface="Microsoft YaHei"/>
              </a:rPr>
              <a:t>模型受约束规划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15968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65DFF"/>
                </a:solidFill>
                <a:latin typeface="Microsoft YaHei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302252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230"/>
                </a:solidFill>
                <a:latin typeface="Microsoft YaHei"/>
              </a:rPr>
              <a:t>Release Gate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1572768"/>
            <a:ext cx="3429000" cy="361188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1847088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65DFF"/>
                </a:solidFill>
                <a:latin typeface="Microsoft YaHei"/>
              </a:rPr>
              <a:t>下一阶段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450592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65DFF"/>
                </a:solidFill>
                <a:latin typeface="Microsoft YaHe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436876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230"/>
                </a:solidFill>
                <a:latin typeface="Microsoft YaHei"/>
              </a:rPr>
              <a:t>公开未知故障回顾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072384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65DFF"/>
                </a:solidFill>
                <a:latin typeface="Microsoft YaHei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058668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230"/>
                </a:solidFill>
                <a:latin typeface="Microsoft YaHei"/>
              </a:rPr>
              <a:t>第二模型供应商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694176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65DFF"/>
                </a:solidFill>
                <a:latin typeface="Microsoft YaHei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68046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230"/>
                </a:solidFill>
                <a:latin typeface="Microsoft YaHei"/>
              </a:rPr>
              <a:t>真实使用信号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315968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65DFF"/>
                </a:solidFill>
                <a:latin typeface="Microsoft YaHei"/>
              </a:rPr>
              <a:t>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302252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230"/>
                </a:solidFill>
                <a:latin typeface="Microsoft YaHei"/>
              </a:rPr>
              <a:t>更多发布适配器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1572768"/>
            <a:ext cx="3867912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product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883" y="1901952"/>
            <a:ext cx="3072384" cy="192024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092440" y="4041648"/>
            <a:ext cx="33192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467"/>
                </a:solidFill>
                <a:latin typeface="Microsoft YaHei"/>
              </a:rPr>
              <a:t>产品站已验证公开可访问
所有数据均有源文件与复现命令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440680"/>
            <a:ext cx="11183112" cy="621792"/>
          </a:xfrm>
          <a:prstGeom prst="roundRect">
            <a:avLst/>
          </a:prstGeom>
          <a:solidFill>
            <a:srgbClr val="182230"/>
          </a:solidFill>
          <a:ln w="12700">
            <a:solidFill>
              <a:srgbClr val="18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559552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用证据决定，而不是用感觉发布。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