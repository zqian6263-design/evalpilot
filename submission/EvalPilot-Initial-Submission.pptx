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秒开场：AI 版本即使普通问答通过，也可能静默破坏条款、权限或安全护栏。EvalPilot 的交付物不是分数，而是可阻断发布的证据决策。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用三个已实现的失败类型说明问题。注意不要说传统工具完全做不到，而是说 EvalPilot 把版本因果比较、根因重放和发布阻断连成了端到端交付。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强调闭环和交付物。截图是实际产品控制台，不是概念图。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这是全篇最重要的一页。用左侧流程说明 Agent 确实参与控制流，用右侧两栏说明权威边界，避免评委认为大模型只是文案生成。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 26 和 18，再讲 8 和区间。必须说明 8/26 是受控公开案例，不是所有版本都一定有 8 个回归。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先讲反事实恢复数字，再用 OOD 4/4 证明不是只对已知 fixture 硬编码。模型规划 8/8 与规则 8/8 并列，避免过度包装。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四个适配器都通过真实边界测量：公开 Haystack pipeline、公开 mem0 浏览器界面、第三方 MCP SDK 双运行时、以及外部团队接入模板。受控 candidate patch 不代表上游项目本身有缺陷。发行侧补充 SHA-256 与清单校验，并在全新解压目录重新安装验收。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市场页不说“市场巨大”或“客户很多”。只说公开付费品类、集成入口、实测成本和可证伪商业假设。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左栏是可当场复核的实测能力，右栏是尚未验证的下一步，二者不混写。真实客户生产部署、多租户权限和第二模型对照仍未验证，不作为已完成能力。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逆熵智评  ·  NEGENTROPY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5577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65DFF"/>
                </a:solidFill>
                <a:latin typeface="Microsoft YaHei"/>
              </a:rPr>
              <a:t>EvalPilot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58521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82230"/>
                </a:solidFill>
                <a:latin typeface="Microsoft YaHei"/>
              </a:rPr>
              <a:t>AI 应用回归评测
与自主发布质量官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63240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467"/>
                </a:solidFill>
                <a:latin typeface="Microsoft YaHei"/>
              </a:rPr>
              <a:t>用匹配评测、统计置信和反事实重放，把版本变化变成可验收的发布决策。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160520"/>
            <a:ext cx="5349240" cy="694944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31596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5DFF"/>
                </a:solidFill>
                <a:latin typeface="Microsoft YaHei"/>
              </a:rPr>
              <a:t>8 / 26 回归 · 52 / 0 上游比较 · 4 / 4 OOD 根因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53949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公开产品站：zqian6263-design.github.io/EvalPilot
演示视频：bilibili.com/video/BV1mPYY6sE1k</a:t>
            </a:r>
          </a:p>
        </p:txBody>
      </p:sp>
      <p:pic>
        <p:nvPicPr>
          <p:cNvPr id="10" name="Picture 9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53088"/>
            <a:ext cx="5440680" cy="30603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普通问答通过，不等于关键能力没有退化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467"/>
                </a:solidFill>
                <a:latin typeface="Microsoft YaHei"/>
              </a:rPr>
              <a:t>版本更新可能更快、总分更高，却同时破坏产品必须长期守住的能力。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349300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73152" cy="2148840"/>
          </a:xfrm>
          <a:prstGeom prst="rect">
            <a:avLst/>
          </a:prstGeom>
          <a:solidFill>
            <a:srgbClr val="B42318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2432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82230"/>
                </a:solidFill>
                <a:latin typeface="Microsoft YaHei"/>
              </a:rPr>
              <a:t>条款与流程丢失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75467"/>
                </a:solidFill>
                <a:latin typeface="Microsoft YaHei"/>
              </a:rPr>
              <a:t>退款、升级、电池处置等强制条款被摘要压缩掉。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2331720"/>
            <a:ext cx="349300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2331720"/>
            <a:ext cx="73152" cy="2148840"/>
          </a:xfrm>
          <a:prstGeom prst="rect">
            <a:avLst/>
          </a:prstGeom>
          <a:solidFill>
            <a:srgbClr val="B54708"/>
          </a:solidFill>
          <a:ln>
            <a:solidFill>
              <a:srgbClr val="B547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62432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82230"/>
                </a:solidFill>
                <a:latin typeface="Microsoft YaHei"/>
              </a:rPr>
              <a:t>权限与隔离失效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127248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75467"/>
                </a:solidFill>
                <a:latin typeface="Microsoft YaHei"/>
              </a:rPr>
              <a:t>租户记忆串扰、缓存返回旧错误，业务边界被绕过。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8" y="2331720"/>
            <a:ext cx="349300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0728" y="2331720"/>
            <a:ext cx="73152" cy="2148840"/>
          </a:xfrm>
          <a:prstGeom prst="rect">
            <a:avLst/>
          </a:prstGeom>
          <a:solidFill>
            <a:srgbClr val="B42318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262432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82230"/>
                </a:solidFill>
                <a:latin typeface="Microsoft YaHei"/>
              </a:rPr>
              <a:t>安全护栏失效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3127248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75467"/>
                </a:solidFill>
                <a:latin typeface="Microsoft YaHei"/>
              </a:rPr>
              <a:t>凭证注入从拒绝泄露变成直接输出敏感信息。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183112" cy="841248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65776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团队需要的不是“再一个分数”，而是：是否真实回归、由哪个变更造成、是否应立即阻断发布。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一个能接管发布质量闭环的数字员工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199339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理解与规划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1627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读取需求与版本变更
生成风险地图和测试任务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65DFF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572768"/>
            <a:ext cx="199339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17556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5224" y="2139696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执行与取证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670048"/>
            <a:ext cx="1627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调用 HTTP / 文件 / KB 工具
保存结果、引用和轨迹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65DFF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1572768"/>
            <a:ext cx="199339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556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139696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统计判定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670048"/>
            <a:ext cx="1627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26 个匹配场景 + 18 个控制组
报告效应量与配对区间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65DFF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51192" y="1572768"/>
            <a:ext cx="199339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4071" y="17556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1" y="2139696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根因重放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1" y="2670048"/>
            <a:ext cx="1627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受约束模型提出实验
引擎执行白名单干预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65DFF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0616" y="1572768"/>
            <a:ext cx="199339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83496" y="17556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5D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3496" y="2139696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发布门禁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496" y="2670048"/>
            <a:ext cx="1627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BLOCK / REVIEW / ALLOW
报告、JUnit、SARIF、PR 回写</a:t>
            </a:r>
          </a:p>
        </p:txBody>
      </p:sp>
      <p:pic>
        <p:nvPicPr>
          <p:cNvPr id="32" name="Picture 31" descr="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080" y="4206240"/>
            <a:ext cx="3332479" cy="1874519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7150608" y="4206240"/>
            <a:ext cx="4535424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4434840"/>
            <a:ext cx="39776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交付物不是建议，而是可验收结果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491947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53527" y="490575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82230"/>
                </a:solidFill>
                <a:latin typeface="Microsoft YaHei"/>
              </a:rPr>
              <a:t>可下载 Markdown 证据报告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526694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53527" y="525322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82230"/>
                </a:solidFill>
                <a:latin typeface="Microsoft YaHei"/>
              </a:rPr>
              <a:t>CI 退出码 0 / 1 /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561441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53527" y="56007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82230"/>
                </a:solidFill>
                <a:latin typeface="Microsoft YaHei"/>
              </a:rPr>
              <a:t>可复现 run id 与 evidence 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智能体边界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模型可以规划，但不能覆盖实测结论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72768"/>
            <a:ext cx="3886200" cy="5029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自然语言目标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7568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467"/>
                </a:solidFill>
                <a:latin typeface="Microsoft YaHe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3886200" cy="5029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0487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风险假设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78892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467"/>
                </a:solidFill>
                <a:latin typeface="Microsoft YaHe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99232"/>
            <a:ext cx="3886200" cy="5029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18104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受约束计划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50215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467"/>
                </a:solidFill>
                <a:latin typeface="Microsoft YaHe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12463"/>
            <a:ext cx="3886200" cy="5029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31335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白名单干预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215383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467"/>
                </a:solidFill>
                <a:latin typeface="Microsoft YaHe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25696"/>
            <a:ext cx="3886200" cy="50292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44568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实测恢复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92861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467"/>
                </a:solidFill>
                <a:latin typeface="Microsoft YaHe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38928"/>
            <a:ext cx="3886200" cy="502920"/>
          </a:xfrm>
          <a:prstGeom prst="roundRect">
            <a:avLst/>
          </a:prstGeom>
          <a:solidFill>
            <a:srgbClr val="ECFDF3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7647"/>
                </a:solidFill>
                <a:latin typeface="Microsoft YaHei"/>
              </a:rPr>
              <a:t>发布决策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572768"/>
            <a:ext cx="297180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1828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65DFF"/>
                </a:solidFill>
                <a:latin typeface="Microsoft YaHei"/>
              </a:rPr>
              <a:t>LLM 权限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239572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382012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提出风险假设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298094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296722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选择可执行实验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56616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552444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解释证据和修复建议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1376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生成报告叙述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1572768"/>
            <a:ext cx="3410712" cy="4069080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1828800"/>
            <a:ext cx="2862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42318"/>
                </a:solidFill>
                <a:latin typeface="Microsoft YaHei"/>
              </a:rPr>
              <a:t>确定性引擎权威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39572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382012"/>
            <a:ext cx="2633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写入分数与证据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298094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2967228"/>
            <a:ext cx="2633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执行并测量反事实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56616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3552444"/>
            <a:ext cx="2633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决定根因与风险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1513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137660"/>
            <a:ext cx="2633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生成 BLOCK / REVIEW / ALLOW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617720"/>
            <a:ext cx="6053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467"/>
                </a:solidFill>
                <a:latin typeface="Microsoft YaHei"/>
              </a:rPr>
              <a:t>DeepSeek V4 Pro 规划 8/8；确定性规则同样 8/8。模型可改变下一步实验，但不能改变答案。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实测证据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真实回归已经被确认、测量和阻断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26060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636776"/>
            <a:ext cx="2276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匹配场景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856231"/>
            <a:ext cx="2276856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5DFF"/>
                </a:solidFill>
                <a:latin typeface="Microsoft YaHei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276856"/>
            <a:ext cx="2276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baseline / candidate 同题运行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508760"/>
            <a:ext cx="26060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636776"/>
            <a:ext cx="2276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控制组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856231"/>
            <a:ext cx="2276856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5DFF"/>
                </a:solidFill>
                <a:latin typeface="Microsoft YaHe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144" y="2276856"/>
            <a:ext cx="2276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同版本对照完全一致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4" y="1508760"/>
            <a:ext cx="2606040" cy="1143000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636776"/>
            <a:ext cx="2276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阻断回归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1856231"/>
            <a:ext cx="2276856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B42318"/>
                </a:solidFill>
                <a:latin typeface="Microsoft YaHe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2276856"/>
            <a:ext cx="2276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7 条款 + 1 凭证泄露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14816" y="1508760"/>
            <a:ext cx="2871216" cy="1143000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1636776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发布结论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1856231"/>
            <a:ext cx="254203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B42318"/>
                </a:solidFill>
                <a:latin typeface="Microsoft YaHei"/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2276856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风险级别 CRITICAL</a:t>
            </a:r>
          </a:p>
        </p:txBody>
      </p:sp>
      <p:pic>
        <p:nvPicPr>
          <p:cNvPr id="24" name="Picture 23" descr="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2944368"/>
            <a:ext cx="5120640" cy="288036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543800" y="2944368"/>
            <a:ext cx="4142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3200400"/>
            <a:ext cx="3611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配对结果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602736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B42318"/>
                </a:solidFill>
                <a:latin typeface="Microsoft YaHei"/>
              </a:rPr>
              <a:t>mean delta  -0.173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4114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82230"/>
                </a:solidFill>
                <a:latin typeface="Microsoft YaHei"/>
              </a:rPr>
              <a:t>95% CI  [-0.288, -0.077]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57200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467"/>
                </a:solidFill>
                <a:latin typeface="Microsoft YaHei"/>
              </a:rPr>
              <a:t>Live Run：52 Judge calls
78,695 tokens · 峰值成本 $0.264697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3583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4708"/>
                </a:solidFill>
                <a:latin typeface="Microsoft YaHei"/>
              </a:rPr>
              <a:t>成本下界，不是通用报价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根因重放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不是猜测原因，而是禁用变更后重新测量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27048"/>
            <a:ext cx="2971800" cy="1234440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19072"/>
            <a:ext cx="594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42318"/>
                </a:solidFill>
                <a:latin typeface="Microsoft YaHe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8013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82230"/>
                </a:solidFill>
                <a:latin typeface="Microsoft YaHei"/>
              </a:rPr>
              <a:t>失败场景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58568"/>
            <a:ext cx="2487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通过 HTTP 边界逐项重放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93852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65DFF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1527048"/>
            <a:ext cx="3703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17190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65DFF"/>
                </a:solidFill>
                <a:latin typeface="Microsoft YaHei"/>
              </a:rPr>
              <a:t>关闭压缩层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12140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7 个条款 / 流程失败恢复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527048"/>
            <a:ext cx="3712463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17190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B42318"/>
                </a:solidFill>
                <a:latin typeface="Microsoft YaHei"/>
              </a:rPr>
              <a:t>恢复安全护栏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12140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1 个凭证泄露恢复拒绝</a:t>
            </a:r>
          </a:p>
        </p:txBody>
      </p:sp>
      <p:pic>
        <p:nvPicPr>
          <p:cNvPr id="19" name="Picture 18" descr="model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971800"/>
            <a:ext cx="5120640" cy="288036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635240" y="2971800"/>
            <a:ext cx="4050791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218688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82230"/>
                </a:solidFill>
                <a:latin typeface="Microsoft YaHei"/>
              </a:rPr>
              <a:t>可执行根因证据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657600"/>
            <a:ext cx="1664208" cy="1115568"/>
          </a:xfrm>
          <a:prstGeom prst="roundRect">
            <a:avLst/>
          </a:prstGeom>
          <a:solidFill>
            <a:srgbClr val="ECFDF3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74152" y="3785615"/>
            <a:ext cx="13350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005072"/>
            <a:ext cx="133502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67647"/>
                </a:solidFill>
                <a:latin typeface="Microsoft YaHei"/>
              </a:rPr>
              <a:t>4 /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4425696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HTTP 实测恢复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10928" y="3657600"/>
            <a:ext cx="17007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3785615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模型规划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19" y="4005072"/>
            <a:ext cx="137160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5DFF"/>
                </a:solidFill>
                <a:latin typeface="Microsoft YaHei"/>
              </a:rPr>
              <a:t>8 /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44256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需白名单校验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1091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467"/>
                </a:solidFill>
                <a:latin typeface="Microsoft YaHei"/>
              </a:rPr>
              <a:t>确定性规则同样 8/8；模型能力是扩展路径，不是不可替代的黑箱。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开源适配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对真实公开栈工作，也对故障明确失败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669280" cy="2029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5120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公开 Haystack HTTP SUT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5DFF"/>
                </a:solidFill>
                <a:latin typeface="Microsoft YaHei"/>
              </a:rPr>
              <a:t>DocumentSplitter → BM25 Retriever → DocumentJoiner
→ GroundedReranker → grounded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Apache-2.0 · haystack-ai 3.1.1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67647"/>
                </a:solidFill>
                <a:latin typeface="Microsoft YaHei"/>
              </a:rPr>
              <a:t>可校验发行包：SHA-256 + 文件清单 + 干净解压安装验收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554480"/>
            <a:ext cx="2423160" cy="1417320"/>
          </a:xfrm>
          <a:prstGeom prst="roundRect">
            <a:avLst/>
          </a:prstGeom>
          <a:solidFill>
            <a:srgbClr val="ECFDF3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82495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上游比较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1901952"/>
            <a:ext cx="2093976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67647"/>
                </a:solidFill>
                <a:latin typeface="Microsoft YaHei"/>
              </a:rPr>
              <a:t>52 /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2322576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3.0.0 vs 3.1.1 语义差异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587752" cy="1417320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1682495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75467"/>
                </a:solidFill>
                <a:latin typeface="Microsoft YaHei"/>
              </a:rPr>
              <a:t>候选回归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1901952"/>
            <a:ext cx="225856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B42318"/>
                </a:solidFill>
                <a:latin typeface="Microsoft YaHei"/>
              </a:rPr>
              <a:t>8 /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2322576"/>
            <a:ext cx="2258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467"/>
                </a:solidFill>
                <a:latin typeface="Microsoft YaHei"/>
              </a:rPr>
              <a:t>mean delta -0.173</a:t>
            </a:r>
          </a:p>
        </p:txBody>
      </p:sp>
      <p:pic>
        <p:nvPicPr>
          <p:cNvPr id="21" name="Picture 20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659" y="3886200"/>
            <a:ext cx="3495039" cy="19659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223760" y="3886200"/>
            <a:ext cx="446227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40690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82230"/>
                </a:solidFill>
                <a:latin typeface="Microsoft YaHei"/>
              </a:rPr>
              <a:t>四个真实适配器，全部实测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48056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4466844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82230"/>
                </a:solidFill>
                <a:latin typeface="Microsoft YaHei"/>
              </a:rPr>
              <a:t>Haystack HTTP SUT：52 / 0 上游 · 8 / 26 受控回归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79145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77774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82230"/>
                </a:solidFill>
                <a:latin typeface="Microsoft YaHei"/>
              </a:rPr>
              <a:t>mem0 浏览器：3 次实测重放 · 18 截图 · 18 trace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510235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88636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82230"/>
                </a:solidFill>
                <a:latin typeface="Microsoft YaHei"/>
              </a:rPr>
              <a:t>MCP SDK：3 协议回归 · 3 次实测 HTTP 重放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541324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5399532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82230"/>
                </a:solidFill>
                <a:latin typeface="Microsoft YaHei"/>
              </a:rPr>
              <a:t>外部 SUT 模板：8 匹配 · 5 回归 · 5 次实测重放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市场与交付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不与监控平台竞争，只守发布前最后一道门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市场切口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5DFF"/>
                </a:solidFill>
                <a:latin typeface="Microsoft YaHei"/>
              </a:rPr>
              <a:t>Given baseline + candidate，输出可阻断发布的证据决策。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40964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公开付费品类已存在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2160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07892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兼容现有 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8853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7482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CI 是明确采购入口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证明预算品类与集成路径，不声称已有付费转化。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536192"/>
            <a:ext cx="342900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1810512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成本与交付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331720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5DFF"/>
                </a:solidFill>
                <a:latin typeface="Microsoft YaHei"/>
              </a:rPr>
              <a:t>$0.264697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83464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467"/>
                </a:solidFill>
                <a:latin typeface="Microsoft YaHei"/>
              </a:rPr>
              <a:t>一次完整 Live Run 峰值下界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29184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327812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2230"/>
                </a:solidFill>
                <a:latin typeface="Microsoft YaHei"/>
              </a:rPr>
              <a:t>BLOCK / REVIEW / ALLOW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71246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69874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2230"/>
                </a:solidFill>
                <a:latin typeface="Microsoft YaHei"/>
              </a:rPr>
              <a:t>Markdown / JUnit / SARIF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13308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1193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2230"/>
                </a:solidFill>
                <a:latin typeface="Microsoft YaHei"/>
              </a:rPr>
              <a:t>退出码 0 / 1 /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55371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53999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2230"/>
                </a:solidFill>
                <a:latin typeface="Microsoft YaHei"/>
              </a:rPr>
              <a:t>GitHub PR 回写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497433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96062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2230"/>
                </a:solidFill>
                <a:latin typeface="Microsoft YaHei"/>
              </a:rPr>
              <a:t>可校验发行包（SHA-256）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4152" y="1536192"/>
            <a:ext cx="36118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2" y="1810512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2230"/>
                </a:solidFill>
                <a:latin typeface="Microsoft YaHei"/>
              </a:rPr>
              <a:t>商业策略（假设）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2" y="242316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2409444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Release audit
固定范围审计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2" y="3291839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7072" y="3278123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Team subscription
持续回归门禁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2" y="41605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77072" y="4146804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Enterprise self-host
私有化与合规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5138928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4708"/>
                </a:solidFill>
                <a:latin typeface="Microsoft YaHei"/>
              </a:rPr>
              <a:t>价格锚点来自公开竞品，不冒充已验证收入。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5DFF"/>
                </a:solidFill>
                <a:latin typeface="Microsoft YaHei"/>
              </a:rPr>
              <a:t>EVALPILOT  · 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82230"/>
                </a:solidFill>
                <a:latin typeface="Microsoft YaHei"/>
              </a:rPr>
              <a:t>先守住发布决策，再扩大公开证据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22860"/>
          </a:xfrm>
          <a:prstGeom prst="rect">
            <a:avLst/>
          </a:prstGeom>
          <a:solidFill>
            <a:srgbClr val="165DFF"/>
          </a:solidFill>
          <a:ln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75467"/>
                </a:solidFill>
                <a:latin typeface="Microsoft YaHei"/>
              </a:rPr>
              <a:t>逆熵智评 · NEGENTROPY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475467"/>
                </a:solidFill>
                <a:latin typeface="Microsoft YaHe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429000" cy="3611880"/>
          </a:xfrm>
          <a:prstGeom prst="roundRect">
            <a:avLst/>
          </a:prstGeom>
          <a:solidFill>
            <a:srgbClr val="ECFDF3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47088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67647"/>
                </a:solidFill>
                <a:latin typeface="Microsoft YaHei"/>
              </a:rPr>
              <a:t>现在：已验证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18003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公开产品站 + 演示视频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775203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真实 HTTP SUT 与离线回放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32403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浏览器任务形态（实测重放）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8960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第三方 MCP 回顾（实测重放）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4680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外部 SUT 接入模板 + E2E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0400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2230"/>
                </a:solidFill>
                <a:latin typeface="Microsoft YaHei"/>
              </a:rPr>
              <a:t>可校验发行包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1572768"/>
            <a:ext cx="3429000" cy="361188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847088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5DFF"/>
                </a:solidFill>
                <a:latin typeface="Microsoft YaHei"/>
              </a:rPr>
              <a:t>下一阶段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45059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43687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第二模型供应商对照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07238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05866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真实外部采用信号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6941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8046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更多生产环境适配器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315968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65DFF"/>
                </a:solidFill>
                <a:latin typeface="Microsoft Ya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30225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82230"/>
                </a:solidFill>
                <a:latin typeface="Microsoft YaHei"/>
              </a:rPr>
              <a:t>付费试点验证（假设）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18120" y="1572768"/>
            <a:ext cx="3867912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roduct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883" y="1901952"/>
            <a:ext cx="3072384" cy="1920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92440" y="4041648"/>
            <a:ext cx="33192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467"/>
                </a:solidFill>
                <a:latin typeface="Microsoft YaHei"/>
              </a:rPr>
              <a:t>产品站已验证公开可访问
所有数据均有源文件与复现命令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183112" cy="621792"/>
          </a:xfrm>
          <a:prstGeom prst="roundRect">
            <a:avLst/>
          </a:prstGeom>
          <a:solidFill>
            <a:srgbClr val="182230"/>
          </a:solidFill>
          <a:ln w="12700">
            <a:solidFill>
              <a:srgbClr val="18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用证据决定，而不是用感觉发布。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